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f828f52164e5a" /><Relationship Type="http://schemas.openxmlformats.org/officeDocument/2006/relationships/extended-properties" Target="/docProps/app.xml" Id="R7ca12b25171b4479" /><Relationship Type="http://schemas.openxmlformats.org/officeDocument/2006/relationships/officeDocument" Target="/ppt/presentation.xml" Id="R611cbe143e59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fd1a7ab62415b"/>
  </p:sldMasterIdLst>
  <p:notesMasterIdLst>
    <p:notesMasterId xmlns:r="http://schemas.openxmlformats.org/officeDocument/2006/relationships" r:id="R75d22f3c08224271"/>
  </p:notesMasterIdLst>
  <p:sldIdLst>
    <p:sldId xmlns:r="http://schemas.openxmlformats.org/officeDocument/2006/relationships" id="256" r:id="R885f665f4d6c47eb"/>
    <p:sldId xmlns:r="http://schemas.openxmlformats.org/officeDocument/2006/relationships" id="257" r:id="Rb5da317420ec4b1f"/>
    <p:sldId xmlns:r="http://schemas.openxmlformats.org/officeDocument/2006/relationships" id="258" r:id="R6b95d210ac67470d"/>
    <p:sldId xmlns:r="http://schemas.openxmlformats.org/officeDocument/2006/relationships" id="259" r:id="R9e6e9827317a4f8d"/>
    <p:sldId xmlns:r="http://schemas.openxmlformats.org/officeDocument/2006/relationships" id="260" r:id="R8dbb8aabbf0d433d"/>
    <p:sldId xmlns:r="http://schemas.openxmlformats.org/officeDocument/2006/relationships" id="261" r:id="R5aa62512583a48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a1a515903140e2" /><Relationship Type="http://schemas.openxmlformats.org/officeDocument/2006/relationships/slideMaster" Target="/ppt/slideMasters/slideMaster1.xml" Id="R04cfd1a7ab62415b" /><Relationship Type="http://schemas.openxmlformats.org/officeDocument/2006/relationships/notesMaster" Target="/ppt/notesMasters/notesMaster1.xml" Id="R75d22f3c08224271" /><Relationship Type="http://schemas.openxmlformats.org/officeDocument/2006/relationships/presProps" Target="/ppt/presProps.xml" Id="R3a84ea9754014714" /><Relationship Type="http://schemas.openxmlformats.org/officeDocument/2006/relationships/tableStyles" Target="/ppt/tableStyles.xml" Id="R42214713e5fe4d8a" /><Relationship Type="http://schemas.openxmlformats.org/officeDocument/2006/relationships/slide" Target="/ppt/slides/slide1.xml" Id="R885f665f4d6c47eb" /><Relationship Type="http://schemas.openxmlformats.org/officeDocument/2006/relationships/slide" Target="/ppt/slides/slide2.xml" Id="Rb5da317420ec4b1f" /><Relationship Type="http://schemas.openxmlformats.org/officeDocument/2006/relationships/slide" Target="/ppt/slides/slide3.xml" Id="R6b95d210ac67470d" /><Relationship Type="http://schemas.openxmlformats.org/officeDocument/2006/relationships/slide" Target="/ppt/slides/slide4.xml" Id="R9e6e9827317a4f8d" /><Relationship Type="http://schemas.openxmlformats.org/officeDocument/2006/relationships/slide" Target="/ppt/slides/slide5.xml" Id="R8dbb8aabbf0d433d" /><Relationship Type="http://schemas.openxmlformats.org/officeDocument/2006/relationships/slide" Target="/ppt/slides/slide6.xml" Id="R5aa62512583a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f9d666a3ee46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bf627d5354e7a" /><Relationship Type="http://schemas.openxmlformats.org/officeDocument/2006/relationships/notesMaster" Target="/ppt/notesMasters/notesMaster1.xml" Id="R9ea62a3cb4e846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7bbb5453a49ef" /><Relationship Type="http://schemas.openxmlformats.org/officeDocument/2006/relationships/notesMaster" Target="/ppt/notesMasters/notesMaster1.xml" Id="R8a2679b4e25a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6fff3756b4eea" /><Relationship Type="http://schemas.openxmlformats.org/officeDocument/2006/relationships/notesMaster" Target="/ppt/notesMasters/notesMaster1.xml" Id="R8cf9bbc5e9f4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6e9c3c3a38451d" /><Relationship Type="http://schemas.openxmlformats.org/officeDocument/2006/relationships/notesMaster" Target="/ppt/notesMasters/notesMaster1.xml" Id="R64218220d83e48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9e683370e40fa" /><Relationship Type="http://schemas.openxmlformats.org/officeDocument/2006/relationships/notesMaster" Target="/ppt/notesMasters/notesMaster1.xml" Id="R7e26f3f9be5f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75b68cee7546cf" /><Relationship Type="http://schemas.openxmlformats.org/officeDocument/2006/relationships/notesMaster" Target="/ppt/notesMasters/notesMaster1.xml" Id="Rfa46dc1c5e5643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Introduce yourself and say you spent time understanding AIVOA from a customer-problem perspective.</a:t>
            </a:r>
          </a:p>
          <a:p xmlns:a="http://schemas.openxmlformats.org/drawingml/2006/main">
            <a:r>
              <a:t>• Your one-line takeaway: AIVOA helps QA teams move faster, but the human still reviews and approves regulated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https://www.aivoa.ai/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Define QMS simply: the controlled system used to document, investigate, approve and learn from quality events.</a:t>
            </a:r>
          </a:p>
          <a:p xmlns:a="http://schemas.openxmlformats.org/drawingml/2006/main">
            <a:r>
              <a:t>• Explain that AIVOA appears to connect the context before drafting—not just generate generic text.</a:t>
            </a:r>
          </a:p>
          <a:p xmlns:a="http://schemas.openxmlformats.org/drawingml/2006/main">
            <a:r>
              <a:t>• Stress the human-in-the-loop point because regulated decisions still need accountable review and approval.</a:t>
            </a:r>
          </a:p>
          <a:p xmlns:a="http://schemas.openxmlformats.org/drawingml/2006/main">
            <a:r>
              <a:t>• Treat performance numbers on the AIVOA site as vendor claims, not as your independently verified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https://www.aivoa.ai/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Identify the organizations first: pharmaceutical and life-sciences manufacturers, including API, finished-dose and CDMO environments.</a:t>
            </a:r>
          </a:p>
          <a:p xmlns:a="http://schemas.openxmlformats.org/drawingml/2006/main">
            <a:r>
              <a:t>• Then identify users: QA is the main buyer, while QC, production and compliance benefit from connected workflows.</a:t>
            </a:r>
          </a:p>
          <a:p xmlns:a="http://schemas.openxmlformats.org/drawingml/2006/main">
            <a:r>
              <a:t>• Explain value in plain language: less searching and typing, stronger visibility, and better use of organizational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https://www.aivoa.ai/</a:t>
            </a:r>
          </a:p>
          <a:p xmlns:a="http://schemas.openxmlformats.org/drawingml/2006/main">
            <a:r>
              <a:t>- https://www.aivoa.ai/pricing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Say why you chose Biocon: Bengaluru connection, global regulated operations, and public evidence of digital quality transformation.</a:t>
            </a:r>
          </a:p>
          <a:p xmlns:a="http://schemas.openxmlformats.org/drawingml/2006/main">
            <a:r>
              <a:t>• Do not imply that digital transformation means poor quality; it means coordination and consistency become important at scale.</a:t>
            </a:r>
          </a:p>
          <a:p xmlns:a="http://schemas.openxmlformats.org/drawingml/2006/main">
            <a:r>
              <a:t>• Point out that Biocon Biologics says Veeva Vault QMS is being rolled out from Bengaluru to Malaysia, the US and 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https://www.biocon.com/docs/Biocon_Integrated_Annual_Report_2025.pdf</a:t>
            </a:r>
          </a:p>
          <a:p xmlns:a="http://schemas.openxmlformats.org/drawingml/2006/main">
            <a:r>
              <a:t>- https://www.bioconbiologics.com/docs/Biocon_Biologics_Integrated_Annual_Report_2025.pdf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Show your reasoning chain instead of pretending you know Biocon's internal problems.</a:t>
            </a:r>
          </a:p>
          <a:p xmlns:a="http://schemas.openxmlformats.org/drawingml/2006/main">
            <a:r>
              <a:t>• Evidence: QMS rollout across regions and an aim to eliminate manual and paper-based documentation.</a:t>
            </a:r>
          </a:p>
          <a:p xmlns:a="http://schemas.openxmlformats.org/drawingml/2006/main">
            <a:r>
              <a:t>• Inference: harmonizing records, SOPs and approvals across sites is a reasonable operational challenge.</a:t>
            </a:r>
          </a:p>
          <a:p xmlns:a="http://schemas.openxmlformats.org/drawingml/2006/main">
            <a:r>
              <a:t>• Fit: AIVOA could help, but only after integration, validation and security requirements are proven.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https://www.bioconbiologics.com/docs/Biocon_Biologics_Integrated_Annual_Report_2025.pdf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PROMPTS — explain naturally in your own words</a:t>
            </a:r>
          </a:p>
          <a:p xmlns:a="http://schemas.openxmlformats.org/drawingml/2006/main">
            <a:r>
              <a:t>• Close by showing how you think as a solutions associate: discovery comes before a product promise.</a:t>
            </a:r>
          </a:p>
          <a:p xmlns:a="http://schemas.openxmlformats.org/drawingml/2006/main">
            <a:r>
              <a:t>• Ask about systems, validation, human controls and a measurable pilot outcome.</a:t>
            </a:r>
          </a:p>
          <a:p xmlns:a="http://schemas.openxmlformats.org/drawingml/2006/main">
            <a:r>
              <a:t>• Optional final sentence: building DrainGuard taught me that AI earns trust through transparent evidence and human review; I would bring the same mindset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https://www.aivoa.ai/</a:t>
            </a:r>
          </a:p>
          <a:p xmlns:a="http://schemas.openxmlformats.org/drawingml/2006/main">
            <a:r>
              <a:t>- https://www.aivoa.ai/pricing</a:t>
            </a:r>
          </a:p>
          <a:p xmlns:a="http://schemas.openxmlformats.org/drawingml/2006/main">
            <a:r>
              <a:t>- https://www.bioconbiologics.com/docs/Biocon_Biologics_Integrated_Annual_Report_2025.pdf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54049c76c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b6019cfc824533" /><Relationship Type="http://schemas.openxmlformats.org/officeDocument/2006/relationships/slideLayout" Target="/ppt/slideLayouts/slideLayout1.xml" Id="R6b1a8c1441b442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a8c1441b4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b3f698434596" /><Relationship Type="http://schemas.openxmlformats.org/officeDocument/2006/relationships/notesSlide" Target="/ppt/notesSlides/notesSlide1.xml" Id="Rc1e9bf0c2024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29b7c9b1a4682" /><Relationship Type="http://schemas.openxmlformats.org/officeDocument/2006/relationships/notesSlide" Target="/ppt/notesSlides/notesSlide2.xml" Id="Ra509617342f944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2a611f5434d0e" /><Relationship Type="http://schemas.openxmlformats.org/officeDocument/2006/relationships/notesSlide" Target="/ppt/notesSlides/notesSlide3.xml" Id="R8732d1724567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c760c3b4a4a2d" /><Relationship Type="http://schemas.openxmlformats.org/officeDocument/2006/relationships/notesSlide" Target="/ppt/notesSlides/notesSlide4.xml" Id="R9f55130d4848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a9859ea9c4dd9" /><Relationship Type="http://schemas.openxmlformats.org/officeDocument/2006/relationships/notesSlide" Target="/ppt/notesSlides/notesSlide5.xml" Id="Raa5cb9b2853d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0b9c542d64173" /><Relationship Type="http://schemas.openxmlformats.org/officeDocument/2006/relationships/notesSlide" Target="/ppt/notesSlides/notesSlide6.xml" Id="R7b1f2c2ce79c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rail">
            <a:extLst xmlns:a="http://schemas.openxmlformats.org/drawingml/2006/main">
              <a:ext uri="{FF2B5EF4-FFF2-40B4-BE49-F238E27FC236}">
                <a16:creationId xmlns:a16="http://schemas.microsoft.com/office/drawing/2014/main" id="{D66A2F1A-3994-4046-B431-D3F49BD3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677D458-8F38-43A3-9B0F-1BC88A0B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AIVOA.AI · DISCOVERY CHALLENGE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4221A78-22C2-46B1-905A-BD494E4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953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speed.</a:t>
            </a:r>
          </a:p>
          <a:p xmlns:a="http://schemas.openxmlformats.org/drawingml/2006/main">
            <a:pPr>
              <a:defRPr sz="5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Human accountability.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C7B3FC-6D36-45A4-AAC8-3204D1D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an AI-native QMS could improve pharmaceutical manufacturing quality</a:t>
            </a:r>
          </a:p>
        </p:txBody>
      </p:sp>
      <p:sp>
        <p:nvSpPr>
          <p:cNvPr id="5" name="cover-name">
            <a:extLst xmlns:a="http://schemas.openxmlformats.org/drawingml/2006/main">
              <a:ext uri="{FF2B5EF4-FFF2-40B4-BE49-F238E27FC236}">
                <a16:creationId xmlns:a16="http://schemas.microsoft.com/office/drawing/2014/main" id="{B88056A1-D708-4CA5-8D70-94567BD3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Bhavya Keerthi</a:t>
            </a:r>
          </a:p>
        </p:txBody>
      </p:sp>
    </p:spTree>
    <p:extLst>
      <p:ext uri="{BB962C8B-B14F-4D97-AF65-F5344CB8AC3E}">
        <p14:creationId xmlns:p14="http://schemas.microsoft.com/office/powerpoint/2010/main" val="1720696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A63100E8-D35A-43D6-8AB9-D1948C8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TASK 1 · 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64AFFF9-1B95-4CB3-BCAB-D59771D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87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AIVOA reduces the work around quality events—not the accountability</a:t>
            </a:r>
          </a:p>
        </p:txBody>
      </p:sp>
      <p:cxnSp>
        <p:nvCxnSpPr>
          <p:cNvPr id="23" name="divider"/>
          <p:cNvCxnSpPr/>
          <p:nvPr/>
        </p:nvCxnSpPr>
        <p:spPr>
          <a:xfrm xmlns:a="http://schemas.openxmlformats.org/drawingml/2006/main">
            <a:off x="6076950" y="20383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E87C0529-CD78-49F4-8D78-9E26816A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CURRENT FRICTION</a:t>
            </a:r>
          </a:p>
        </p:txBody>
      </p:sp>
      <p:sp>
        <p:nvSpPr>
          <p:cNvPr id="5" name="left-body">
            <a:extLst xmlns:a="http://schemas.openxmlformats.org/drawingml/2006/main">
              <a:ext uri="{FF2B5EF4-FFF2-40B4-BE49-F238E27FC236}">
                <a16:creationId xmlns:a16="http://schemas.microsoft.com/office/drawing/2014/main" id="{B7A27FF6-97AC-4694-B1E0-1A0E66E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Quality teams must document deviations, find the right batch and equipment records, compare SOPs, check past events, and coordinate approvals.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When this context is spread across forms and systems, investigations take longer and recurring issues are easier to miss.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0347F8F3-0F45-43A5-89E3-9F4D7B13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WHAT AIVOA ADDS</a:t>
            </a:r>
          </a:p>
        </p:txBody>
      </p:sp>
      <p:sp>
        <p:nvSpPr>
          <p:cNvPr id="7" name="num-0">
            <a:extLst xmlns:a="http://schemas.openxmlformats.org/drawingml/2006/main">
              <a:ext uri="{FF2B5EF4-FFF2-40B4-BE49-F238E27FC236}">
                <a16:creationId xmlns:a16="http://schemas.microsoft.com/office/drawing/2014/main" id="{70DAF5FC-580A-44C1-8F75-80233BF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text-0">
            <a:extLst xmlns:a="http://schemas.openxmlformats.org/drawingml/2006/main">
              <a:ext uri="{FF2B5EF4-FFF2-40B4-BE49-F238E27FC236}">
                <a16:creationId xmlns:a16="http://schemas.microsoft.com/office/drawing/2014/main" id="{685D7882-E2B2-43A3-983A-7D4CCEA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91D2785A-4FE6-41B6-89DC-BD93272F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431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Plain-language intake</a:t>
            </a:r>
          </a:p>
        </p:txBody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7888F858-43DA-43D3-A31E-F3B9788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text-1">
            <a:extLst xmlns:a="http://schemas.openxmlformats.org/drawingml/2006/main">
              <a:ext uri="{FF2B5EF4-FFF2-40B4-BE49-F238E27FC236}">
                <a16:creationId xmlns:a16="http://schemas.microsoft.com/office/drawing/2014/main" id="{18D4AB8A-E9E8-4C25-A694-A2B2DCC9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item-1">
            <a:extLst xmlns:a="http://schemas.openxmlformats.org/drawingml/2006/main">
              <a:ext uri="{FF2B5EF4-FFF2-40B4-BE49-F238E27FC236}">
                <a16:creationId xmlns:a16="http://schemas.microsoft.com/office/drawing/2014/main" id="{7B94DF2E-EFD3-45D0-8FC3-B16E5FF2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Batch, asset, SOP and history lookup</a:t>
            </a:r>
          </a:p>
        </p:txBody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A2640FC9-2100-4FF3-AAB8-586D1F3D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um-text-2">
            <a:extLst xmlns:a="http://schemas.openxmlformats.org/drawingml/2006/main">
              <a:ext uri="{FF2B5EF4-FFF2-40B4-BE49-F238E27FC236}">
                <a16:creationId xmlns:a16="http://schemas.microsoft.com/office/drawing/2014/main" id="{616A9889-571A-404E-8EEF-A6E48A4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item-2">
            <a:extLst xmlns:a="http://schemas.openxmlformats.org/drawingml/2006/main">
              <a:ext uri="{FF2B5EF4-FFF2-40B4-BE49-F238E27FC236}">
                <a16:creationId xmlns:a16="http://schemas.microsoft.com/office/drawing/2014/main" id="{C2E78366-85A0-46F0-BA9A-4AC6F0D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290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AI-drafted deviations and CAPA actions</a:t>
            </a:r>
          </a:p>
        </p:txBody>
      </p:sp>
      <p:sp>
        <p:nvSpPr>
          <p:cNvPr id="16" name="num-3">
            <a:extLst xmlns:a="http://schemas.openxmlformats.org/drawingml/2006/main">
              <a:ext uri="{FF2B5EF4-FFF2-40B4-BE49-F238E27FC236}">
                <a16:creationId xmlns:a16="http://schemas.microsoft.com/office/drawing/2014/main" id="{C80BBAF6-13EB-4AF0-802F-C8100CA6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339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68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-text-3">
            <a:extLst xmlns:a="http://schemas.openxmlformats.org/drawingml/2006/main">
              <a:ext uri="{FF2B5EF4-FFF2-40B4-BE49-F238E27FC236}">
                <a16:creationId xmlns:a16="http://schemas.microsoft.com/office/drawing/2014/main" id="{C2076765-26E3-44BB-BFAB-D112F1B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item-3">
            <a:extLst xmlns:a="http://schemas.openxmlformats.org/drawingml/2006/main">
              <a:ext uri="{FF2B5EF4-FFF2-40B4-BE49-F238E27FC236}">
                <a16:creationId xmlns:a16="http://schemas.microsoft.com/office/drawing/2014/main" id="{7584DC78-465A-4B8A-B902-A667EA4D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Human review, signatures and audit trail</a:t>
            </a:r>
          </a:p>
        </p:txBody>
      </p:sp>
      <p:sp>
        <p:nvSpPr>
          <p:cNvPr id="19" name="source-line">
            <a:extLst xmlns:a="http://schemas.openxmlformats.org/drawingml/2006/main">
              <a:ext uri="{FF2B5EF4-FFF2-40B4-BE49-F238E27FC236}">
                <a16:creationId xmlns:a16="http://schemas.microsoft.com/office/drawing/2014/main" id="{89534AC5-63E2-4BAF-AC6D-EC564931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AIVOA.AI product overview (vendor claims; not independently validated)</a:t>
            </a:r>
          </a:p>
        </p:txBody>
      </p:sp>
      <p:sp>
        <p:nvSpPr>
          <p:cNvPr id="20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04DF867B-C96D-4464-B10B-B921376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0410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3">
            <a:extLst xmlns:a="http://schemas.openxmlformats.org/drawingml/2006/main">
              <a:ext uri="{FF2B5EF4-FFF2-40B4-BE49-F238E27FC236}">
                <a16:creationId xmlns:a16="http://schemas.microsoft.com/office/drawing/2014/main" id="{BA61C036-C7C8-4AB3-A4F9-1F6183E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TASK 1 · CUSTOMERS AND VALUE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3C6CA5E-BD03-416C-87C9-8888EF55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87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buyer is the quality organization; the value reaches the whole plant</a:t>
            </a:r>
          </a:p>
        </p:txBody>
      </p:sp>
      <p:sp>
        <p:nvSpPr>
          <p:cNvPr id="3" name="buyer-heading">
            <a:extLst xmlns:a="http://schemas.openxmlformats.org/drawingml/2006/main">
              <a:ext uri="{FF2B5EF4-FFF2-40B4-BE49-F238E27FC236}">
                <a16:creationId xmlns:a16="http://schemas.microsoft.com/office/drawing/2014/main" id="{97908C0B-D194-435A-92AB-7FFBBF6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WHO I THINK BUYS IT</a:t>
            </a:r>
          </a:p>
        </p:txBody>
      </p:sp>
      <p:sp>
        <p:nvSpPr>
          <p:cNvPr id="4" name="buyer-big">
            <a:extLst xmlns:a="http://schemas.openxmlformats.org/drawingml/2006/main">
              <a:ext uri="{FF2B5EF4-FFF2-40B4-BE49-F238E27FC236}">
                <a16:creationId xmlns:a16="http://schemas.microsoft.com/office/drawing/2014/main" id="{113D2B07-D934-4D19-B836-3F9C219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Life-sciences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manufacturers</a:t>
            </a:r>
          </a:p>
        </p:txBody>
      </p:sp>
      <p:sp>
        <p:nvSpPr>
          <p:cNvPr id="5" name="buyer-list">
            <a:extLst xmlns:a="http://schemas.openxmlformats.org/drawingml/2006/main">
              <a:ext uri="{FF2B5EF4-FFF2-40B4-BE49-F238E27FC236}">
                <a16:creationId xmlns:a16="http://schemas.microsoft.com/office/drawing/2014/main" id="{2B522C9D-D0BF-4EE8-AC9A-86572EC6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API plants · Finished-dose plants</a:t>
            </a:r>
          </a:p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Export manufacturers · CDMOs</a:t>
            </a:r>
          </a:p>
          <a:p xmlns:a="http://schemas.openxmlformats.org/drawingml/2006/main">
            <a:pPr>
              <a:defRPr sz="172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2"/>
                </a:solidFill>
                <a:latin typeface="Arial"/>
                <a:ea typeface="Arial"/>
                <a:cs typeface="Arial"/>
              </a:rPr>
              <a:t>QA leaders · QC · Production · Compliance</a:t>
            </a:r>
          </a:p>
        </p:txBody>
      </p:sp>
      <p:cxnSp>
        <p:nvCxnSpPr>
          <p:cNvPr id="23" name="value-rule-0"/>
          <p:cNvCxnSpPr/>
          <p:nvPr/>
        </p:nvCxnSpPr>
        <p:spPr>
          <a:xfrm xmlns:a="http://schemas.openxmlformats.org/drawingml/2006/main">
            <a:off x="5581650" y="2057400"/>
            <a:ext cx="6019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689C9"/>
            </a:solidFill>
            <a:prstDash val="solid"/>
          </a:ln>
        </p:spPr>
      </p:cxnSp>
      <p:sp>
        <p:nvSpPr>
          <p:cNvPr id="7" name="value-head-0">
            <a:extLst xmlns:a="http://schemas.openxmlformats.org/drawingml/2006/main">
              <a:ext uri="{FF2B5EF4-FFF2-40B4-BE49-F238E27FC236}">
                <a16:creationId xmlns:a16="http://schemas.microsoft.com/office/drawing/2014/main" id="{27938951-031B-428E-9500-A7DE0F8B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Faster</a:t>
            </a:r>
          </a:p>
        </p:txBody>
      </p:sp>
      <p:sp>
        <p:nvSpPr>
          <p:cNvPr id="8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E87B97DB-B8FC-46F1-BD10-FDD3CCE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57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Less time spent drafting and searching</a:t>
            </a:r>
          </a:p>
        </p:txBody>
      </p:sp>
      <p:cxnSp>
        <p:nvCxnSpPr>
          <p:cNvPr id="26" name="value-rule-1"/>
          <p:cNvCxnSpPr/>
          <p:nvPr/>
        </p:nvCxnSpPr>
        <p:spPr>
          <a:xfrm xmlns:a="http://schemas.openxmlformats.org/drawingml/2006/main">
            <a:off x="5581650" y="3295650"/>
            <a:ext cx="6019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10" name="value-head-1">
            <a:extLst xmlns:a="http://schemas.openxmlformats.org/drawingml/2006/main">
              <a:ext uri="{FF2B5EF4-FFF2-40B4-BE49-F238E27FC236}">
                <a16:creationId xmlns:a16="http://schemas.microsoft.com/office/drawing/2014/main" id="{ABD821BA-2313-4626-A1C0-8F5ABE77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Safer</a:t>
            </a:r>
          </a:p>
        </p:txBody>
      </p:sp>
      <p:sp>
        <p:nvSpPr>
          <p:cNvPr id="11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FFA76389-3462-4644-A11A-73ED488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956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 events and approvals stay visible</a:t>
            </a:r>
          </a:p>
        </p:txBody>
      </p:sp>
      <p:cxnSp>
        <p:nvCxnSpPr>
          <p:cNvPr id="29" name="value-rule-2"/>
          <p:cNvCxnSpPr/>
          <p:nvPr/>
        </p:nvCxnSpPr>
        <p:spPr>
          <a:xfrm xmlns:a="http://schemas.openxmlformats.org/drawingml/2006/main">
            <a:off x="5581650" y="4533900"/>
            <a:ext cx="6019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13" name="value-head-2">
            <a:extLst xmlns:a="http://schemas.openxmlformats.org/drawingml/2006/main">
              <a:ext uri="{FF2B5EF4-FFF2-40B4-BE49-F238E27FC236}">
                <a16:creationId xmlns:a16="http://schemas.microsoft.com/office/drawing/2014/main" id="{F3701C7B-E44E-4779-A600-DC33046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24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Smarter</a:t>
            </a:r>
          </a:p>
        </p:txBody>
      </p:sp>
      <p:sp>
        <p:nvSpPr>
          <p:cNvPr id="14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17BA50D7-BED6-4CEF-837E-0ED37F50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339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827"/>
                </a:solidFill>
                <a:latin typeface="Arial"/>
                <a:ea typeface="Arial"/>
                <a:cs typeface="Arial"/>
              </a:rPr>
              <a:t>Past incidents can inform the next investigation</a:t>
            </a:r>
          </a:p>
        </p:txBody>
      </p:sp>
      <p:sp>
        <p:nvSpPr>
          <p:cNvPr id="15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F104719E-4AB0-4257-9B0C-51F75A32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791200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Business value: more consistent quality work with less administrative effort.</a:t>
            </a:r>
          </a:p>
        </p:txBody>
      </p:sp>
      <p:sp>
        <p:nvSpPr>
          <p:cNvPr id="16" name="source-line">
            <a:extLst xmlns:a="http://schemas.openxmlformats.org/drawingml/2006/main">
              <a:ext uri="{FF2B5EF4-FFF2-40B4-BE49-F238E27FC236}">
                <a16:creationId xmlns:a16="http://schemas.microsoft.com/office/drawing/2014/main" id="{B52DF362-3FC4-4981-8A03-2C594A6B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Sources: AIVOA.AI product overview and plan segmentation</a:t>
            </a:r>
          </a:p>
        </p:txBody>
      </p:sp>
      <p:sp>
        <p:nvSpPr>
          <p:cNvPr id="17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FD026567-9840-4E3F-8D25-5932A236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2268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4">
            <a:extLst xmlns:a="http://schemas.openxmlformats.org/drawingml/2006/main">
              <a:ext uri="{FF2B5EF4-FFF2-40B4-BE49-F238E27FC236}">
                <a16:creationId xmlns:a16="http://schemas.microsoft.com/office/drawing/2014/main" id="{F1C86986-84AD-420F-9FCA-C4741B40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TASK 2 · COMPANY CHOICE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71A4866-36DE-4B90-96FC-D454319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87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 chose Biocon because scale turns quality coordination into a systems problem</a:t>
            </a:r>
          </a:p>
        </p:txBody>
      </p:sp>
      <p:sp>
        <p:nvSpPr>
          <p:cNvPr id="3" name="choice-summary">
            <a:extLst xmlns:a="http://schemas.openxmlformats.org/drawingml/2006/main">
              <a:ext uri="{FF2B5EF4-FFF2-40B4-BE49-F238E27FC236}">
                <a16:creationId xmlns:a16="http://schemas.microsoft.com/office/drawing/2014/main" id="{0E273533-E9AE-4EB3-9D80-9DD64841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B6472"/>
                </a:solidFill>
                <a:latin typeface="Arial"/>
                <a:ea typeface="Arial"/>
                <a:cs typeface="Arial"/>
              </a:rPr>
              <a:t>Biocon is a Bengaluru-rooted biopharmaceutical group operating across regulated markets. Its published reports show an active shift toward standardized digital quality workflows.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5C27B2C7-CDD7-4DD4-8683-A9C96FCF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5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rd-stat-0">
            <a:extLst xmlns:a="http://schemas.openxmlformats.org/drawingml/2006/main">
              <a:ext uri="{FF2B5EF4-FFF2-40B4-BE49-F238E27FC236}">
                <a16:creationId xmlns:a16="http://schemas.microsoft.com/office/drawing/2014/main" id="{0B490F9C-C4E9-4BDF-8E27-0EFF538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6" name="card-body-0">
            <a:extLst xmlns:a="http://schemas.openxmlformats.org/drawingml/2006/main">
              <a:ext uri="{FF2B5EF4-FFF2-40B4-BE49-F238E27FC236}">
                <a16:creationId xmlns:a16="http://schemas.microsoft.com/office/drawing/2014/main" id="{3080ABE7-9330-4492-A9E1-1C30BB33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Operations and regulatory expectations span regions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4DDCC314-9FC5-4935-9AC7-D5689B90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35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stat-1">
            <a:extLst xmlns:a="http://schemas.openxmlformats.org/drawingml/2006/main">
              <a:ext uri="{FF2B5EF4-FFF2-40B4-BE49-F238E27FC236}">
                <a16:creationId xmlns:a16="http://schemas.microsoft.com/office/drawing/2014/main" id="{53E18EF4-C2B0-4EA6-B161-74B47B3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Multi-site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9337CC83-E9D1-44EE-8327-A2390C9A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QMS rollout is expanding beyond Bengaluru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5B679A9A-8E35-442B-ADD5-FEF16FD4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335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stat-2">
            <a:extLst xmlns:a="http://schemas.openxmlformats.org/drawingml/2006/main">
              <a:ext uri="{FF2B5EF4-FFF2-40B4-BE49-F238E27FC236}">
                <a16:creationId xmlns:a16="http://schemas.microsoft.com/office/drawing/2014/main" id="{2F6C750F-D6E8-4A9D-966D-120F967E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Paperless</a:t>
            </a:r>
          </a:p>
        </p:txBody>
      </p:sp>
      <p:sp>
        <p:nvSpPr>
          <p:cNvPr id="1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074202A-EE6F-47D8-A6E2-FC8DDBD8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products are moving to digital batch records</a:t>
            </a:r>
          </a:p>
        </p:txBody>
      </p:sp>
      <p:sp>
        <p:nvSpPr>
          <p:cNvPr id="13" name="choice-reason">
            <a:extLst xmlns:a="http://schemas.openxmlformats.org/drawingml/2006/main">
              <a:ext uri="{FF2B5EF4-FFF2-40B4-BE49-F238E27FC236}">
                <a16:creationId xmlns:a16="http://schemas.microsoft.com/office/drawing/2014/main" id="{456B8006-1AA4-4061-AEF3-E29B82E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Why it fits the challenge: the company is familiar enough to research, but complex enough to reveal a real enterprise AI use case.</a:t>
            </a:r>
          </a:p>
        </p:txBody>
      </p:sp>
      <p:sp>
        <p:nvSpPr>
          <p:cNvPr id="14" name="source-line">
            <a:extLst xmlns:a="http://schemas.openxmlformats.org/drawingml/2006/main">
              <a:ext uri="{FF2B5EF4-FFF2-40B4-BE49-F238E27FC236}">
                <a16:creationId xmlns:a16="http://schemas.microsoft.com/office/drawing/2014/main" id="{E3900775-7699-4BEC-9EC7-3D1A36B4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Source: Biocon and Biocon Biologics Integrated Annual Reports FY2025</a:t>
            </a:r>
          </a:p>
        </p:txBody>
      </p:sp>
      <p:sp>
        <p:nvSpPr>
          <p:cNvPr id="15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3755B83-84CE-4298-9ADF-5E99B944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7539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5">
            <a:extLst xmlns:a="http://schemas.openxmlformats.org/drawingml/2006/main">
              <a:ext uri="{FF2B5EF4-FFF2-40B4-BE49-F238E27FC236}">
                <a16:creationId xmlns:a16="http://schemas.microsoft.com/office/drawing/2014/main" id="{95AA55BC-B5DE-437F-90DD-4433B56A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TASK 2 · MY REASONING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CA4AD22-D50E-45DD-9AAA-D475C60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87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My hypothesis: consistent, traceable execution gets harder across sites</a:t>
            </a:r>
          </a:p>
        </p:txBody>
      </p:sp>
      <p:sp>
        <p:nvSpPr>
          <p:cNvPr id="3" name="hypothesis-tag">
            <a:extLst xmlns:a="http://schemas.openxmlformats.org/drawingml/2006/main">
              <a:ext uri="{FF2B5EF4-FFF2-40B4-BE49-F238E27FC236}">
                <a16:creationId xmlns:a16="http://schemas.microsoft.com/office/drawing/2014/main" id="{A3568707-ADD1-4621-8283-79A666E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905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ypothesis-text">
            <a:extLst xmlns:a="http://schemas.openxmlformats.org/drawingml/2006/main">
              <a:ext uri="{FF2B5EF4-FFF2-40B4-BE49-F238E27FC236}">
                <a16:creationId xmlns:a16="http://schemas.microsoft.com/office/drawing/2014/main" id="{BBF59FBF-049C-48D6-932E-EB6C615B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HYPOTHESIS — NOT A CONFIRMED DEFECT</a:t>
            </a:r>
          </a:p>
        </p:txBody>
      </p:sp>
      <p:cxnSp>
        <p:nvCxnSpPr>
          <p:cNvPr id="25" name="timeline"/>
          <p:cNvCxnSpPr/>
          <p:nvPr/>
        </p:nvCxnSpPr>
        <p:spPr>
          <a:xfrm xmlns:a="http://schemas.openxmlformats.org/drawingml/2006/main">
            <a:off x="971550" y="3486150"/>
            <a:ext cx="9582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FB2A8573-39E1-47D0-8838-1750196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um-0">
            <a:extLst xmlns:a="http://schemas.openxmlformats.org/drawingml/2006/main">
              <a:ext uri="{FF2B5EF4-FFF2-40B4-BE49-F238E27FC236}">
                <a16:creationId xmlns:a16="http://schemas.microsoft.com/office/drawing/2014/main" id="{6A153D4B-4458-4F66-9DAD-C3B257B7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81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imeline-head-0">
            <a:extLst xmlns:a="http://schemas.openxmlformats.org/drawingml/2006/main">
              <a:ext uri="{FF2B5EF4-FFF2-40B4-BE49-F238E27FC236}">
                <a16:creationId xmlns:a16="http://schemas.microsoft.com/office/drawing/2014/main" id="{57AF5065-F7BE-4227-B100-C9D79F2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955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3620B017-8A3D-421E-8E42-C08B4670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05250"/>
            <a:ext cx="3105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A global QMS rollout and a stated goal to expand digital batch workflows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F1124411-A2B8-4DF7-B84B-87496E4E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num-1">
            <a:extLst xmlns:a="http://schemas.openxmlformats.org/drawingml/2006/main">
              <a:ext uri="{FF2B5EF4-FFF2-40B4-BE49-F238E27FC236}">
                <a16:creationId xmlns:a16="http://schemas.microsoft.com/office/drawing/2014/main" id="{C8D11D9A-164A-486F-9F3F-DEC2FCD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81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77349E51-1BD1-43AE-AD02-B3C1680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955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Likely challenge</a:t>
            </a:r>
          </a:p>
        </p:txBody>
      </p:sp>
      <p:sp>
        <p:nvSpPr>
          <p:cNvPr id="13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5D148AAA-7642-4A16-A36C-8417D15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3105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Keeping SOP use, records, investigations and approvals consistent across sites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9C5BBA3-9A4D-46D0-8F84-5BE91DA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33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68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num-2">
            <a:extLst xmlns:a="http://schemas.openxmlformats.org/drawingml/2006/main">
              <a:ext uri="{FF2B5EF4-FFF2-40B4-BE49-F238E27FC236}">
                <a16:creationId xmlns:a16="http://schemas.microsoft.com/office/drawing/2014/main" id="{40CFC65B-4EDF-46A2-BFE5-3CE24C5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81375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64657144-3B93-44AC-BDB0-B0DC73D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955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Possible AIVOA fit</a:t>
            </a:r>
          </a:p>
        </p:txBody>
      </p:sp>
      <p:sp>
        <p:nvSpPr>
          <p:cNvPr id="17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17C1E680-BA96-4623-A0CF-F8D7E441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05250"/>
            <a:ext cx="3105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Context-aware drafts, recurring-event search and controlled human approval</a:t>
            </a:r>
          </a:p>
        </p:txBody>
      </p:sp>
      <p:sp>
        <p:nvSpPr>
          <p:cNvPr id="18" name="reasoning-close">
            <a:extLst xmlns:a="http://schemas.openxmlformats.org/drawingml/2006/main">
              <a:ext uri="{FF2B5EF4-FFF2-40B4-BE49-F238E27FC236}">
                <a16:creationId xmlns:a16="http://schemas.microsoft.com/office/drawing/2014/main" id="{548B58E4-8B35-433B-8CD3-EEF64F95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What led me here: Biocon’s own report describes both the rollout and the paperless expansion goal.</a:t>
            </a:r>
          </a:p>
        </p:txBody>
      </p:sp>
      <p:sp>
        <p:nvSpPr>
          <p:cNvPr id="19" name="source-line">
            <a:extLst xmlns:a="http://schemas.openxmlformats.org/drawingml/2006/main">
              <a:ext uri="{FF2B5EF4-FFF2-40B4-BE49-F238E27FC236}">
                <a16:creationId xmlns:a16="http://schemas.microsoft.com/office/drawing/2014/main" id="{67B86433-7C6E-4C01-81B0-120D7793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472"/>
                </a:solidFill>
                <a:latin typeface="Arial"/>
                <a:ea typeface="Arial"/>
                <a:cs typeface="Arial"/>
              </a:rPr>
              <a:t>Primary evidence: Biocon Biologics Integrated Annual Report FY2025</a:t>
            </a:r>
          </a:p>
        </p:txBody>
      </p:sp>
      <p:sp>
        <p:nvSpPr>
          <p:cNvPr id="20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D7059139-814A-4D61-A394-66F34504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5685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567AC53-EE3D-4CEC-9E3D-C25BCF7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8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89C9"/>
                </a:solidFill>
                <a:latin typeface="Arial"/>
                <a:ea typeface="Arial"/>
                <a:cs typeface="Arial"/>
              </a:rPr>
              <a:t>HOW I WOULD CONTINUE THE DISCOVERY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076982A-7DD6-46C8-81CC-14E77008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962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 would validate the workflow</a:t>
            </a:r>
          </a:p>
          <a:p xmlns:a="http://schemas.openxmlformats.org/drawingml/2006/main">
            <a:pPr>
              <a:defRPr sz="4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before promising the outcome</a:t>
            </a:r>
          </a:p>
        </p:txBody>
      </p:sp>
      <p:cxnSp>
        <p:nvCxnSpPr>
          <p:cNvPr id="15" name="question-rule-0"/>
          <p:cNvCxnSpPr/>
          <p:nvPr/>
        </p:nvCxnSpPr>
        <p:spPr>
          <a:xfrm xmlns:a="http://schemas.openxmlformats.org/drawingml/2006/main">
            <a:off x="552450" y="327660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689C9"/>
            </a:solidFill>
            <a:prstDash val="solid"/>
          </a:ln>
        </p:spPr>
      </p:cxnSp>
      <p:sp>
        <p:nvSpPr>
          <p:cNvPr id="4" name="question-0">
            <a:extLst xmlns:a="http://schemas.openxmlformats.org/drawingml/2006/main">
              <a:ext uri="{FF2B5EF4-FFF2-40B4-BE49-F238E27FC236}">
                <a16:creationId xmlns:a16="http://schemas.microsoft.com/office/drawing/2014/main" id="{FC4D3758-2D27-4B80-AFBE-E19FC33B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Where do deviations and batch records live today?</a:t>
            </a:r>
          </a:p>
        </p:txBody>
      </p:sp>
      <p:cxnSp>
        <p:nvCxnSpPr>
          <p:cNvPr id="17" name="question-rule-1"/>
          <p:cNvCxnSpPr/>
          <p:nvPr/>
        </p:nvCxnSpPr>
        <p:spPr>
          <a:xfrm xmlns:a="http://schemas.openxmlformats.org/drawingml/2006/main">
            <a:off x="6057900" y="327660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6" name="question-1">
            <a:extLst xmlns:a="http://schemas.openxmlformats.org/drawingml/2006/main">
              <a:ext uri="{FF2B5EF4-FFF2-40B4-BE49-F238E27FC236}">
                <a16:creationId xmlns:a16="http://schemas.microsoft.com/office/drawing/2014/main" id="{2F57CCC1-06A2-437A-8566-D654906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480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must be validated for 21 CFR Part 11 and GxP use?</a:t>
            </a:r>
          </a:p>
        </p:txBody>
      </p:sp>
      <p:cxnSp>
        <p:nvCxnSpPr>
          <p:cNvPr id="19" name="question-rule-2"/>
          <p:cNvCxnSpPr/>
          <p:nvPr/>
        </p:nvCxnSpPr>
        <p:spPr>
          <a:xfrm xmlns:a="http://schemas.openxmlformats.org/drawingml/2006/main">
            <a:off x="552450" y="428625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8" name="question-2">
            <a:extLst xmlns:a="http://schemas.openxmlformats.org/drawingml/2006/main">
              <a:ext uri="{FF2B5EF4-FFF2-40B4-BE49-F238E27FC236}">
                <a16:creationId xmlns:a16="http://schemas.microsoft.com/office/drawing/2014/main" id="{0D32797A-48D4-4287-A66F-139CFEC9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AI outputs require review, approval or escalation?</a:t>
            </a:r>
          </a:p>
        </p:txBody>
      </p:sp>
      <p:cxnSp>
        <p:nvCxnSpPr>
          <p:cNvPr id="21" name="question-rule-3"/>
          <p:cNvCxnSpPr/>
          <p:nvPr/>
        </p:nvCxnSpPr>
        <p:spPr>
          <a:xfrm xmlns:a="http://schemas.openxmlformats.org/drawingml/2006/main">
            <a:off x="6057900" y="428625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3DC"/>
            </a:solidFill>
            <a:prstDash val="solid"/>
          </a:ln>
        </p:spPr>
      </p:cxnSp>
      <p:sp>
        <p:nvSpPr>
          <p:cNvPr id="10" name="question-3">
            <a:extLst xmlns:a="http://schemas.openxmlformats.org/drawingml/2006/main">
              <a:ext uri="{FF2B5EF4-FFF2-40B4-BE49-F238E27FC236}">
                <a16:creationId xmlns:a16="http://schemas.microsoft.com/office/drawing/2014/main" id="{A700E797-5393-43C9-BE2B-2E26AAC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pilot metric would prove value in 30 days?</a:t>
            </a:r>
          </a:p>
        </p:txBody>
      </p:sp>
      <p:sp>
        <p:nvSpPr>
          <p:cNvPr id="11" name="close-line">
            <a:extLst xmlns:a="http://schemas.openxmlformats.org/drawingml/2006/main">
              <a:ext uri="{FF2B5EF4-FFF2-40B4-BE49-F238E27FC236}">
                <a16:creationId xmlns:a16="http://schemas.microsoft.com/office/drawing/2014/main" id="{A64D5231-56D0-46F1-BD28-B4A665D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The opportunity: reduce QA effort without reducing QA control.</a:t>
            </a:r>
          </a:p>
        </p:txBody>
      </p:sp>
      <p:sp>
        <p:nvSpPr>
          <p:cNvPr id="1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F514CF9C-DA06-4750-BD22-3F89EE9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9743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2026-08-20T14:43:12.5580000Z</dcterms:created>
  <dcterms:modified xsi:type="dcterms:W3CDTF">2026-08-20T14:43:12.5580000Z</dcterms:modified>
</coreProperties>
</file>